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4" r:id="rId7"/>
    <p:sldId id="262" r:id="rId8"/>
    <p:sldId id="263"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4660"/>
  </p:normalViewPr>
  <p:slideViewPr>
    <p:cSldViewPr snapToGrid="0">
      <p:cViewPr varScale="1">
        <p:scale>
          <a:sx n="67" d="100"/>
          <a:sy n="67" d="100"/>
        </p:scale>
        <p:origin x="65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86A3E-EC02-4A15-8CFF-A86B2AE5AB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FBCC30F-E95F-44ED-9557-674BDBB40F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21A8A3-C888-42A6-A690-19C4DD0A737D}"/>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5" name="Footer Placeholder 4">
            <a:extLst>
              <a:ext uri="{FF2B5EF4-FFF2-40B4-BE49-F238E27FC236}">
                <a16:creationId xmlns:a16="http://schemas.microsoft.com/office/drawing/2014/main" id="{75FF822B-A5BC-4F87-B8D2-DFEF4A20C5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028A3C-9CE2-42F7-9FC4-6CE5FA38A308}"/>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5937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C226B-5C6C-49FB-A220-AD8B18DFFB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C5D907-E29E-4ECE-A749-98FD4A7CA0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699C89-A0DE-466A-82C1-2158F5A2F6B7}"/>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5" name="Footer Placeholder 4">
            <a:extLst>
              <a:ext uri="{FF2B5EF4-FFF2-40B4-BE49-F238E27FC236}">
                <a16:creationId xmlns:a16="http://schemas.microsoft.com/office/drawing/2014/main" id="{4F91A1DA-D320-4314-93FD-45290F5A8F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7BFF0A-9C5D-43FA-9F61-7542D1C4A310}"/>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3782900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55CC-C182-4F50-9B4D-310B1A042D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D73989-B842-418D-8B0E-C590072777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E289AA-828E-4BE8-B5F7-D3395BB3C7EA}"/>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5" name="Footer Placeholder 4">
            <a:extLst>
              <a:ext uri="{FF2B5EF4-FFF2-40B4-BE49-F238E27FC236}">
                <a16:creationId xmlns:a16="http://schemas.microsoft.com/office/drawing/2014/main" id="{93BFC092-7762-4138-9721-421B593AD6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E74A95-376D-4E6B-8189-2A80699D6670}"/>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106270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54A20-4AA2-4099-B296-72EB5F9C6B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03D22C-432F-4A32-926C-31B64855C8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E2D985-98AF-468D-9E65-9F1F51EBA8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B5C84B-1ACC-4811-BF22-EBE31D337251}"/>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6" name="Footer Placeholder 5">
            <a:extLst>
              <a:ext uri="{FF2B5EF4-FFF2-40B4-BE49-F238E27FC236}">
                <a16:creationId xmlns:a16="http://schemas.microsoft.com/office/drawing/2014/main" id="{251741CE-25A7-4FFA-A62D-B671B02A77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B88DA4-B848-4DEC-8320-CE2BBE760D0B}"/>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1860870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6CC7A-8802-44CF-86D0-B77EBCE042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696CF0-7B1A-4C5D-8921-CC893E88E0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08FA52-A4FA-4601-92BF-8BCDB9F2B3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FAF216-2790-45E0-88A2-529879C89D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A995FB-04C3-46DA-BAD8-F719D03988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621100-B5DD-4324-B8ED-D93139D8F5E2}"/>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8" name="Footer Placeholder 7">
            <a:extLst>
              <a:ext uri="{FF2B5EF4-FFF2-40B4-BE49-F238E27FC236}">
                <a16:creationId xmlns:a16="http://schemas.microsoft.com/office/drawing/2014/main" id="{F3C703CF-0D9A-42BA-A655-83EECA286C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0E8D3B-8104-4D58-ADA3-E4C05B48B320}"/>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1260823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A77E8-5A69-4166-AFC2-03772D34D90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73A6EE-5ED2-4E66-BE90-031DEE7AE928}"/>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4" name="Footer Placeholder 3">
            <a:extLst>
              <a:ext uri="{FF2B5EF4-FFF2-40B4-BE49-F238E27FC236}">
                <a16:creationId xmlns:a16="http://schemas.microsoft.com/office/drawing/2014/main" id="{1F830FB2-688C-4E12-B5E3-27924369F3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320E91-200B-45F4-96D6-94012A0B2DD0}"/>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1220255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BD6D2B-F1FD-409F-8F85-EAD230D48D7D}"/>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3" name="Footer Placeholder 2">
            <a:extLst>
              <a:ext uri="{FF2B5EF4-FFF2-40B4-BE49-F238E27FC236}">
                <a16:creationId xmlns:a16="http://schemas.microsoft.com/office/drawing/2014/main" id="{6A4BAB3F-35C3-4E08-AACA-A312372676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EB8402D-C96C-4DFF-8D46-5A2A140CF03B}"/>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2091103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0921-7BF4-4B28-B503-B6994FBE50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F081D84-8B88-46C8-AEEF-A55E9808F6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7CAE8E-6CC6-42C1-B8E4-1AC7FE7E71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FAF26E-596F-4F76-A427-C15BF3614EA1}"/>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6" name="Footer Placeholder 5">
            <a:extLst>
              <a:ext uri="{FF2B5EF4-FFF2-40B4-BE49-F238E27FC236}">
                <a16:creationId xmlns:a16="http://schemas.microsoft.com/office/drawing/2014/main" id="{6C13FF7A-B04C-4AAA-BECF-443D70D24A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7D55A5-C3F2-48F7-8D2D-07034A774869}"/>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243502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40E4C-0442-44D2-8F0A-9DF7F97688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AFB954-6482-408C-A6FB-4E431728F1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2084FE9-51B4-4019-84E8-3B508E3F8B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C63C1B-71E9-4E34-998B-CFB01CC3F666}"/>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6" name="Footer Placeholder 5">
            <a:extLst>
              <a:ext uri="{FF2B5EF4-FFF2-40B4-BE49-F238E27FC236}">
                <a16:creationId xmlns:a16="http://schemas.microsoft.com/office/drawing/2014/main" id="{3C870FCB-208C-43E7-8CAF-DB15A7824E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F4CE46-D155-4EF5-BE11-76C75A670B57}"/>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3792713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09CE0-CC9A-42F9-94AC-E1739E45A1C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748EAB-AFA2-435B-9BD7-BB7B3D9927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D9B957-2B67-4FE5-9E13-C5A8F7E63BF4}"/>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5" name="Footer Placeholder 4">
            <a:extLst>
              <a:ext uri="{FF2B5EF4-FFF2-40B4-BE49-F238E27FC236}">
                <a16:creationId xmlns:a16="http://schemas.microsoft.com/office/drawing/2014/main" id="{EFC7D6D2-592D-4FB5-AEA0-90EC79C876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FE4F95-134F-4B9D-9AA0-3F1CB3BE94DD}"/>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3511955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E5A54D-2905-4FC0-B6C2-17BB1308C0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60742B-AD44-41B5-B7DE-24B8BB4DFD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DCDEC9-B7CB-4192-BBC6-47F6041D8972}"/>
              </a:ext>
            </a:extLst>
          </p:cNvPr>
          <p:cNvSpPr>
            <a:spLocks noGrp="1"/>
          </p:cNvSpPr>
          <p:nvPr>
            <p:ph type="dt" sz="half" idx="10"/>
          </p:nvPr>
        </p:nvSpPr>
        <p:spPr/>
        <p:txBody>
          <a:bodyPr/>
          <a:lstStyle/>
          <a:p>
            <a:fld id="{0F13E5EF-77E4-4ED8-8B7D-0FEB49296D94}" type="datetimeFigureOut">
              <a:rPr lang="en-IN" smtClean="0"/>
              <a:t>11-01-2023</a:t>
            </a:fld>
            <a:endParaRPr lang="en-IN"/>
          </a:p>
        </p:txBody>
      </p:sp>
      <p:sp>
        <p:nvSpPr>
          <p:cNvPr id="5" name="Footer Placeholder 4">
            <a:extLst>
              <a:ext uri="{FF2B5EF4-FFF2-40B4-BE49-F238E27FC236}">
                <a16:creationId xmlns:a16="http://schemas.microsoft.com/office/drawing/2014/main" id="{D2ADD9B2-D767-425D-A336-42D37AE2BA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72067C-F964-4AA3-9214-93738700031C}"/>
              </a:ext>
            </a:extLst>
          </p:cNvPr>
          <p:cNvSpPr>
            <a:spLocks noGrp="1"/>
          </p:cNvSpPr>
          <p:nvPr>
            <p:ph type="sldNum" sz="quarter" idx="12"/>
          </p:nvPr>
        </p:nvSpPr>
        <p:spPr/>
        <p:txBody>
          <a:bodyPr/>
          <a:lstStyle/>
          <a:p>
            <a:fld id="{F54A97CF-42F2-4D46-B0E7-130944D15586}" type="slidenum">
              <a:rPr lang="en-IN" smtClean="0"/>
              <a:t>‹#›</a:t>
            </a:fld>
            <a:endParaRPr lang="en-IN"/>
          </a:p>
        </p:txBody>
      </p:sp>
    </p:spTree>
    <p:extLst>
      <p:ext uri="{BB962C8B-B14F-4D97-AF65-F5344CB8AC3E}">
        <p14:creationId xmlns:p14="http://schemas.microsoft.com/office/powerpoint/2010/main" val="195228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CAC17B-3172-46A5-AD30-FB3315C10F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09A4BA-BA23-4FC1-A3F0-AE0D6CCCD4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E65543-028C-4071-AE4A-52B4E846AD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13E5EF-77E4-4ED8-8B7D-0FEB49296D94}" type="datetimeFigureOut">
              <a:rPr lang="en-IN" smtClean="0"/>
              <a:t>11-01-2023</a:t>
            </a:fld>
            <a:endParaRPr lang="en-IN"/>
          </a:p>
        </p:txBody>
      </p:sp>
      <p:sp>
        <p:nvSpPr>
          <p:cNvPr id="5" name="Footer Placeholder 4">
            <a:extLst>
              <a:ext uri="{FF2B5EF4-FFF2-40B4-BE49-F238E27FC236}">
                <a16:creationId xmlns:a16="http://schemas.microsoft.com/office/drawing/2014/main" id="{A2F4B8B8-2BDC-4FB9-AA66-61DA5DF6E5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742B89A-70FE-4B32-B38B-135025BAD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4A97CF-42F2-4D46-B0E7-130944D15586}" type="slidenum">
              <a:rPr lang="en-IN" smtClean="0"/>
              <a:t>‹#›</a:t>
            </a:fld>
            <a:endParaRPr lang="en-IN"/>
          </a:p>
        </p:txBody>
      </p:sp>
    </p:spTree>
    <p:extLst>
      <p:ext uri="{BB962C8B-B14F-4D97-AF65-F5344CB8AC3E}">
        <p14:creationId xmlns:p14="http://schemas.microsoft.com/office/powerpoint/2010/main" val="226078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 name="Rectangle 3">
            <a:extLst>
              <a:ext uri="{FF2B5EF4-FFF2-40B4-BE49-F238E27FC236}">
                <a16:creationId xmlns:a16="http://schemas.microsoft.com/office/drawing/2014/main" id="{C43DBD62-D4D5-4F65-9DF7-C25E4C61ACCC}"/>
              </a:ext>
            </a:extLst>
          </p:cNvPr>
          <p:cNvSpPr/>
          <p:nvPr/>
        </p:nvSpPr>
        <p:spPr>
          <a:xfrm>
            <a:off x="2513935" y="2967335"/>
            <a:ext cx="7164141"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Lending Club Case Study</a:t>
            </a:r>
          </a:p>
        </p:txBody>
      </p:sp>
      <p:sp>
        <p:nvSpPr>
          <p:cNvPr id="5" name="Rectangle 4">
            <a:extLst>
              <a:ext uri="{FF2B5EF4-FFF2-40B4-BE49-F238E27FC236}">
                <a16:creationId xmlns:a16="http://schemas.microsoft.com/office/drawing/2014/main" id="{1767A3DC-B953-4FD0-A42A-E3275A212B07}"/>
              </a:ext>
            </a:extLst>
          </p:cNvPr>
          <p:cNvSpPr/>
          <p:nvPr/>
        </p:nvSpPr>
        <p:spPr>
          <a:xfrm>
            <a:off x="119424" y="5862935"/>
            <a:ext cx="6290901" cy="523220"/>
          </a:xfrm>
          <a:prstGeom prst="rect">
            <a:avLst/>
          </a:prstGeom>
          <a:noFill/>
        </p:spPr>
        <p:txBody>
          <a:bodyPr wrap="square" lIns="91440" tIns="45720" rIns="91440" bIns="45720">
            <a:spAutoFit/>
          </a:bodyPr>
          <a:lstStyle/>
          <a:p>
            <a:pPr algn="ctr"/>
            <a:r>
              <a:rPr lang="en-US" sz="2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Author: Kumar Krishna Chakraborty</a:t>
            </a:r>
          </a:p>
        </p:txBody>
      </p:sp>
    </p:spTree>
    <p:extLst>
      <p:ext uri="{BB962C8B-B14F-4D97-AF65-F5344CB8AC3E}">
        <p14:creationId xmlns:p14="http://schemas.microsoft.com/office/powerpoint/2010/main" val="1937224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Rectangle 1">
            <a:extLst>
              <a:ext uri="{FF2B5EF4-FFF2-40B4-BE49-F238E27FC236}">
                <a16:creationId xmlns:a16="http://schemas.microsoft.com/office/drawing/2014/main" id="{BD868DC4-DCE8-4031-AA9A-6F0678B5F787}"/>
              </a:ext>
            </a:extLst>
          </p:cNvPr>
          <p:cNvSpPr/>
          <p:nvPr/>
        </p:nvSpPr>
        <p:spPr>
          <a:xfrm>
            <a:off x="448784" y="433685"/>
            <a:ext cx="8398839"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Business Problem Statement</a:t>
            </a:r>
          </a:p>
        </p:txBody>
      </p:sp>
      <p:sp>
        <p:nvSpPr>
          <p:cNvPr id="6" name="Rectangle 5">
            <a:extLst>
              <a:ext uri="{FF2B5EF4-FFF2-40B4-BE49-F238E27FC236}">
                <a16:creationId xmlns:a16="http://schemas.microsoft.com/office/drawing/2014/main" id="{E42C3848-3B1E-49EE-B025-E133ECD9034D}"/>
              </a:ext>
            </a:extLst>
          </p:cNvPr>
          <p:cNvSpPr/>
          <p:nvPr/>
        </p:nvSpPr>
        <p:spPr>
          <a:xfrm>
            <a:off x="591378" y="1538585"/>
            <a:ext cx="10827690" cy="2246769"/>
          </a:xfrm>
          <a:prstGeom prst="rect">
            <a:avLst/>
          </a:prstGeom>
          <a:noFill/>
        </p:spPr>
        <p:txBody>
          <a:bodyPr wrap="square" lIns="91440" tIns="45720" rIns="91440" bIns="45720">
            <a:spAutoFit/>
          </a:bodyPr>
          <a:lstStyle/>
          <a:p>
            <a:r>
              <a:rPr lang="en-IN" sz="2800" b="0" cap="none" spc="0" dirty="0">
                <a:ln w="0"/>
                <a:solidFill>
                  <a:schemeClr val="accent1"/>
                </a:solidFill>
                <a:effectLst>
                  <a:outerShdw blurRad="38100" dist="25400" dir="5400000" algn="ctr" rotWithShape="0">
                    <a:srgbClr val="6E747A">
                      <a:alpha val="43000"/>
                    </a:srgbClr>
                  </a:outerShdw>
                </a:effectLst>
              </a:rPr>
              <a:t>A consumer finance company is specialised in lending various types of loans to urban customers. When the company receives a loan application, the company must decide for loan approval based on the applicant’s profile. Two types of risks are associated with the bank’s decision</a:t>
            </a:r>
          </a:p>
          <a:p>
            <a:endParaRPr 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20" name="Rectangle 19">
            <a:extLst>
              <a:ext uri="{FF2B5EF4-FFF2-40B4-BE49-F238E27FC236}">
                <a16:creationId xmlns:a16="http://schemas.microsoft.com/office/drawing/2014/main" id="{791E2F31-FAF7-46DC-9B40-CBD2E8CF425D}"/>
              </a:ext>
            </a:extLst>
          </p:cNvPr>
          <p:cNvSpPr/>
          <p:nvPr/>
        </p:nvSpPr>
        <p:spPr>
          <a:xfrm>
            <a:off x="991428" y="3843635"/>
            <a:ext cx="10827690" cy="2246769"/>
          </a:xfrm>
          <a:prstGeom prst="rect">
            <a:avLst/>
          </a:prstGeom>
          <a:noFill/>
        </p:spPr>
        <p:txBody>
          <a:bodyPr wrap="square" lIns="91440" tIns="45720" rIns="91440" bIns="45720">
            <a:spAutoFit/>
          </a:bodyPr>
          <a:lstStyle/>
          <a:p>
            <a:pPr marL="457200" indent="-457200">
              <a:buFont typeface="Arial" panose="020B0604020202020204" pitchFamily="34" charset="0"/>
              <a:buChar char="•"/>
            </a:pPr>
            <a:r>
              <a:rPr lang="en-US" sz="2800" b="0" cap="none" spc="0" dirty="0">
                <a:ln w="0"/>
                <a:solidFill>
                  <a:schemeClr val="accent1"/>
                </a:solidFill>
                <a:effectLst>
                  <a:outerShdw blurRad="38100" dist="25400" dir="5400000" algn="ctr" rotWithShape="0">
                    <a:srgbClr val="6E747A">
                      <a:alpha val="43000"/>
                    </a:srgbClr>
                  </a:outerShdw>
                </a:effectLst>
              </a:rPr>
              <a:t>If </a:t>
            </a:r>
            <a:r>
              <a:rPr lang="en-IN" sz="2800" b="0" cap="none" spc="0" dirty="0">
                <a:ln w="0"/>
                <a:solidFill>
                  <a:schemeClr val="accent1"/>
                </a:solidFill>
                <a:effectLst>
                  <a:outerShdw blurRad="38100" dist="25400" dir="5400000" algn="ctr" rotWithShape="0">
                    <a:srgbClr val="6E747A">
                      <a:alpha val="43000"/>
                    </a:srgbClr>
                  </a:outerShdw>
                </a:effectLst>
              </a:rPr>
              <a:t>the applicant is likely to repay the loan, then approving the loan results in a loss of business to the company</a:t>
            </a:r>
          </a:p>
          <a:p>
            <a:pPr marL="457200" indent="-457200">
              <a:buFont typeface="Arial" panose="020B0604020202020204" pitchFamily="34" charset="0"/>
              <a:buChar char="•"/>
            </a:pPr>
            <a:r>
              <a:rPr lang="en-IN" sz="2800" dirty="0">
                <a:ln w="0"/>
                <a:solidFill>
                  <a:schemeClr val="accent1"/>
                </a:solidFill>
                <a:effectLst>
                  <a:outerShdw blurRad="38100" dist="25400" dir="5400000" algn="ctr" rotWithShape="0">
                    <a:srgbClr val="6E747A">
                      <a:alpha val="43000"/>
                    </a:srgbClr>
                  </a:outerShdw>
                </a:effectLst>
              </a:rPr>
              <a:t>If the applicant is not likely to repay the loan, i.e. he/she is likely to default, then approving the loan may lead to a financial loss for the company</a:t>
            </a:r>
            <a:endParaRPr lang="en-US" sz="28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938531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Rectangle 1">
            <a:extLst>
              <a:ext uri="{FF2B5EF4-FFF2-40B4-BE49-F238E27FC236}">
                <a16:creationId xmlns:a16="http://schemas.microsoft.com/office/drawing/2014/main" id="{BD868DC4-DCE8-4031-AA9A-6F0678B5F787}"/>
              </a:ext>
            </a:extLst>
          </p:cNvPr>
          <p:cNvSpPr/>
          <p:nvPr/>
        </p:nvSpPr>
        <p:spPr>
          <a:xfrm>
            <a:off x="557990" y="433685"/>
            <a:ext cx="5551521"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Business Objective</a:t>
            </a:r>
          </a:p>
        </p:txBody>
      </p:sp>
      <p:sp>
        <p:nvSpPr>
          <p:cNvPr id="6" name="Rectangle 5">
            <a:extLst>
              <a:ext uri="{FF2B5EF4-FFF2-40B4-BE49-F238E27FC236}">
                <a16:creationId xmlns:a16="http://schemas.microsoft.com/office/drawing/2014/main" id="{E42C3848-3B1E-49EE-B025-E133ECD9034D}"/>
              </a:ext>
            </a:extLst>
          </p:cNvPr>
          <p:cNvSpPr/>
          <p:nvPr/>
        </p:nvSpPr>
        <p:spPr>
          <a:xfrm>
            <a:off x="591378" y="1538585"/>
            <a:ext cx="10827690" cy="1815882"/>
          </a:xfrm>
          <a:prstGeom prst="rect">
            <a:avLst/>
          </a:prstGeom>
          <a:noFill/>
        </p:spPr>
        <p:txBody>
          <a:bodyPr wrap="square" lIns="91440" tIns="45720" rIns="91440" bIns="45720">
            <a:spAutoFit/>
          </a:bodyPr>
          <a:lstStyle/>
          <a:p>
            <a:r>
              <a:rPr lang="en-IN" sz="2800" b="0" cap="none" spc="0" dirty="0">
                <a:ln w="0"/>
                <a:solidFill>
                  <a:schemeClr val="accent1"/>
                </a:solidFill>
                <a:effectLst>
                  <a:outerShdw blurRad="38100" dist="25400" dir="5400000" algn="ctr" rotWithShape="0">
                    <a:srgbClr val="6E747A">
                      <a:alpha val="43000"/>
                    </a:srgbClr>
                  </a:outerShdw>
                </a:effectLst>
              </a:rPr>
              <a:t>The company wants to understand the driving factors (or driver variables) behind loan default, i.e., the variables which are strong indicators of default. The company can utilise this knowledge for its portfolio and risk assessment</a:t>
            </a:r>
            <a:endParaRPr 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21" name="Rectangle 20">
            <a:extLst>
              <a:ext uri="{FF2B5EF4-FFF2-40B4-BE49-F238E27FC236}">
                <a16:creationId xmlns:a16="http://schemas.microsoft.com/office/drawing/2014/main" id="{4BD660BE-A46C-4828-B1DC-3E1B526903ED}"/>
              </a:ext>
            </a:extLst>
          </p:cNvPr>
          <p:cNvSpPr/>
          <p:nvPr/>
        </p:nvSpPr>
        <p:spPr>
          <a:xfrm>
            <a:off x="576649" y="3529310"/>
            <a:ext cx="5514203"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Solution Approach</a:t>
            </a:r>
          </a:p>
        </p:txBody>
      </p:sp>
      <p:sp>
        <p:nvSpPr>
          <p:cNvPr id="22" name="Rectangle 21">
            <a:extLst>
              <a:ext uri="{FF2B5EF4-FFF2-40B4-BE49-F238E27FC236}">
                <a16:creationId xmlns:a16="http://schemas.microsoft.com/office/drawing/2014/main" id="{945A8B05-6CE6-4342-8BF6-2634BED9019C}"/>
              </a:ext>
            </a:extLst>
          </p:cNvPr>
          <p:cNvSpPr/>
          <p:nvPr/>
        </p:nvSpPr>
        <p:spPr>
          <a:xfrm>
            <a:off x="629478" y="4700885"/>
            <a:ext cx="10827690" cy="954107"/>
          </a:xfrm>
          <a:prstGeom prst="rect">
            <a:avLst/>
          </a:prstGeom>
          <a:noFill/>
        </p:spPr>
        <p:txBody>
          <a:bodyPr wrap="square" lIns="91440" tIns="45720" rIns="91440" bIns="45720">
            <a:spAutoFit/>
          </a:bodyPr>
          <a:lstStyle/>
          <a:p>
            <a:r>
              <a:rPr lang="en-IN" sz="2800" b="0" cap="none" spc="0" dirty="0">
                <a:ln w="0"/>
                <a:solidFill>
                  <a:schemeClr val="accent1"/>
                </a:solidFill>
                <a:effectLst>
                  <a:outerShdw blurRad="38100" dist="25400" dir="5400000" algn="ctr" rotWithShape="0">
                    <a:srgbClr val="6E747A">
                      <a:alpha val="43000"/>
                    </a:srgbClr>
                  </a:outerShdw>
                </a:effectLst>
              </a:rPr>
              <a:t>Exploratory Data Analysis was used to identify the key consumer and loan attributes that influence the tendency of loan default</a:t>
            </a:r>
            <a:endParaRPr lang="en-US" sz="28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685884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Rectangle 1">
            <a:extLst>
              <a:ext uri="{FF2B5EF4-FFF2-40B4-BE49-F238E27FC236}">
                <a16:creationId xmlns:a16="http://schemas.microsoft.com/office/drawing/2014/main" id="{BD868DC4-DCE8-4031-AA9A-6F0678B5F787}"/>
              </a:ext>
            </a:extLst>
          </p:cNvPr>
          <p:cNvSpPr/>
          <p:nvPr/>
        </p:nvSpPr>
        <p:spPr>
          <a:xfrm>
            <a:off x="345593" y="245145"/>
            <a:ext cx="10660291" cy="584775"/>
          </a:xfrm>
          <a:prstGeom prst="rect">
            <a:avLst/>
          </a:prstGeom>
          <a:noFill/>
        </p:spPr>
        <p:txBody>
          <a:bodyPr wrap="none" lIns="91440" tIns="45720" rIns="91440" bIns="45720">
            <a:spAutoFit/>
          </a:bodyPr>
          <a:lstStyle/>
          <a:p>
            <a:pPr algn="ctr"/>
            <a:r>
              <a:rPr lang="en-US" sz="32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Univariate Analysis (Single Attribute impact) Key Observations</a:t>
            </a:r>
          </a:p>
        </p:txBody>
      </p:sp>
      <p:sp>
        <p:nvSpPr>
          <p:cNvPr id="20" name="Rectangle 19">
            <a:extLst>
              <a:ext uri="{FF2B5EF4-FFF2-40B4-BE49-F238E27FC236}">
                <a16:creationId xmlns:a16="http://schemas.microsoft.com/office/drawing/2014/main" id="{791E2F31-FAF7-46DC-9B40-CBD2E8CF425D}"/>
              </a:ext>
            </a:extLst>
          </p:cNvPr>
          <p:cNvSpPr/>
          <p:nvPr/>
        </p:nvSpPr>
        <p:spPr>
          <a:xfrm>
            <a:off x="538938" y="1185276"/>
            <a:ext cx="10827690" cy="4893647"/>
          </a:xfrm>
          <a:prstGeom prst="rect">
            <a:avLst/>
          </a:prstGeom>
          <a:noFill/>
        </p:spPr>
        <p:txBody>
          <a:bodyPr wrap="square" lIns="91440" tIns="45720" rIns="91440" bIns="45720">
            <a:spAutoFit/>
          </a:bodyPr>
          <a:lstStyle/>
          <a:p>
            <a:pPr marL="457200" indent="-457200">
              <a:buFont typeface="Arial" panose="020B0604020202020204" pitchFamily="34" charset="0"/>
              <a:buChar char="•"/>
            </a:pPr>
            <a:r>
              <a:rPr lang="en-IN" sz="2400" b="0" cap="none" spc="0" dirty="0">
                <a:ln w="0"/>
                <a:solidFill>
                  <a:schemeClr val="accent1"/>
                </a:solidFill>
                <a:effectLst>
                  <a:outerShdw blurRad="38100" dist="25400" dir="5400000" algn="ctr" rotWithShape="0">
                    <a:srgbClr val="6E747A">
                      <a:alpha val="43000"/>
                    </a:srgbClr>
                  </a:outerShdw>
                </a:effectLst>
              </a:rPr>
              <a:t>We observed the trend that higher the loan amount, the chances of loan default is more</a:t>
            </a:r>
          </a:p>
          <a:p>
            <a:pPr marL="457200" indent="-457200">
              <a:buFont typeface="Arial" panose="020B0604020202020204" pitchFamily="34" charset="0"/>
              <a:buChar char="•"/>
            </a:pPr>
            <a:r>
              <a:rPr lang="en-IN" sz="2400" b="0" cap="none" spc="0" dirty="0">
                <a:ln w="0"/>
                <a:solidFill>
                  <a:schemeClr val="accent1"/>
                </a:solidFill>
                <a:effectLst>
                  <a:outerShdw blurRad="38100" dist="25400" dir="5400000" algn="ctr" rotWithShape="0">
                    <a:srgbClr val="6E747A">
                      <a:alpha val="43000"/>
                    </a:srgbClr>
                  </a:outerShdw>
                </a:effectLst>
              </a:rPr>
              <a:t>We observed that higher is the interest, greater is the chance of loan default.</a:t>
            </a:r>
          </a:p>
          <a:p>
            <a:pPr marL="457200" indent="-457200">
              <a:buFont typeface="Arial" panose="020B0604020202020204" pitchFamily="34" charset="0"/>
              <a:buChar char="•"/>
            </a:pPr>
            <a:r>
              <a:rPr lang="en-IN" sz="2400" b="0" cap="none" spc="0" dirty="0">
                <a:ln w="0"/>
                <a:solidFill>
                  <a:schemeClr val="accent1"/>
                </a:solidFill>
                <a:effectLst>
                  <a:outerShdw blurRad="38100" dist="25400" dir="5400000" algn="ctr" rotWithShape="0">
                    <a:srgbClr val="6E747A">
                      <a:alpha val="43000"/>
                    </a:srgbClr>
                  </a:outerShdw>
                </a:effectLst>
              </a:rPr>
              <a:t>We observed that higher instalment amounts show higher default percentages.</a:t>
            </a:r>
          </a:p>
          <a:p>
            <a:pPr marL="457200" indent="-457200">
              <a:buFont typeface="Arial" panose="020B0604020202020204" pitchFamily="34" charset="0"/>
              <a:buChar char="•"/>
            </a:pPr>
            <a:r>
              <a:rPr lang="en-IN" sz="2400" b="0" cap="none" spc="0" dirty="0">
                <a:ln w="0"/>
                <a:solidFill>
                  <a:schemeClr val="accent1"/>
                </a:solidFill>
                <a:effectLst>
                  <a:outerShdw blurRad="38100" dist="25400" dir="5400000" algn="ctr" rotWithShape="0">
                    <a:srgbClr val="6E747A">
                      <a:alpha val="43000"/>
                    </a:srgbClr>
                  </a:outerShdw>
                </a:effectLst>
              </a:rPr>
              <a:t>We observed that higher annual income show lesser default percentages</a:t>
            </a:r>
          </a:p>
          <a:p>
            <a:pPr marL="457200" indent="-457200">
              <a:buFont typeface="Arial" panose="020B0604020202020204" pitchFamily="34" charset="0"/>
              <a:buChar char="•"/>
            </a:pPr>
            <a:r>
              <a:rPr lang="en-IN" sz="2400" b="0" cap="none" spc="0" dirty="0">
                <a:ln w="0"/>
                <a:solidFill>
                  <a:schemeClr val="accent1"/>
                </a:solidFill>
                <a:effectLst>
                  <a:outerShdw blurRad="38100" dist="25400" dir="5400000" algn="ctr" rotWithShape="0">
                    <a:srgbClr val="6E747A">
                      <a:alpha val="43000"/>
                    </a:srgbClr>
                  </a:outerShdw>
                </a:effectLst>
              </a:rPr>
              <a:t>We observed that higher debt to income ratio show higher default percentages</a:t>
            </a:r>
          </a:p>
          <a:p>
            <a:pPr marL="457200" indent="-457200">
              <a:buFont typeface="Arial" panose="020B0604020202020204" pitchFamily="34" charset="0"/>
              <a:buChar char="•"/>
            </a:pPr>
            <a:r>
              <a:rPr lang="en-IN" sz="2400" dirty="0">
                <a:ln w="0"/>
                <a:solidFill>
                  <a:schemeClr val="accent1"/>
                </a:solidFill>
                <a:effectLst>
                  <a:outerShdw blurRad="38100" dist="25400" dir="5400000" algn="ctr" rotWithShape="0">
                    <a:srgbClr val="6E747A">
                      <a:alpha val="43000"/>
                    </a:srgbClr>
                  </a:outerShdw>
                </a:effectLst>
              </a:rPr>
              <a:t>We observed that total credit revolving balances slightly influence the default percentage. Higher the revolving balance, greater the chance of the loan getting defaulted</a:t>
            </a:r>
          </a:p>
          <a:p>
            <a:pPr marL="457200" indent="-457200">
              <a:buFont typeface="Arial" panose="020B0604020202020204" pitchFamily="34" charset="0"/>
              <a:buChar char="•"/>
            </a:pPr>
            <a:r>
              <a:rPr lang="en-IN" sz="2400" dirty="0">
                <a:ln w="0"/>
                <a:solidFill>
                  <a:schemeClr val="accent1"/>
                </a:solidFill>
                <a:effectLst>
                  <a:outerShdw blurRad="38100" dist="25400" dir="5400000" algn="ctr" rotWithShape="0">
                    <a:srgbClr val="6E747A">
                      <a:alpha val="43000"/>
                    </a:srgbClr>
                  </a:outerShdw>
                </a:effectLst>
              </a:rPr>
              <a:t>We observed that revolving line utilization rate has high impact to the loan default percentage. When this increases, the charged off percentage also increases.</a:t>
            </a: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US" sz="2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384754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Rectangle 1">
            <a:extLst>
              <a:ext uri="{FF2B5EF4-FFF2-40B4-BE49-F238E27FC236}">
                <a16:creationId xmlns:a16="http://schemas.microsoft.com/office/drawing/2014/main" id="{BD868DC4-DCE8-4031-AA9A-6F0678B5F787}"/>
              </a:ext>
            </a:extLst>
          </p:cNvPr>
          <p:cNvSpPr/>
          <p:nvPr/>
        </p:nvSpPr>
        <p:spPr>
          <a:xfrm>
            <a:off x="299098" y="245145"/>
            <a:ext cx="10753265" cy="584775"/>
          </a:xfrm>
          <a:prstGeom prst="rect">
            <a:avLst/>
          </a:prstGeom>
          <a:noFill/>
        </p:spPr>
        <p:txBody>
          <a:bodyPr wrap="none" lIns="91440" tIns="45720" rIns="91440" bIns="45720">
            <a:spAutoFit/>
          </a:bodyPr>
          <a:lstStyle/>
          <a:p>
            <a:pPr algn="ctr"/>
            <a:r>
              <a:rPr lang="en-US" sz="32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Univariate Analysis (Single Attribute impact) Key Observations</a:t>
            </a:r>
          </a:p>
        </p:txBody>
      </p:sp>
      <p:sp>
        <p:nvSpPr>
          <p:cNvPr id="20" name="Rectangle 19">
            <a:extLst>
              <a:ext uri="{FF2B5EF4-FFF2-40B4-BE49-F238E27FC236}">
                <a16:creationId xmlns:a16="http://schemas.microsoft.com/office/drawing/2014/main" id="{791E2F31-FAF7-46DC-9B40-CBD2E8CF425D}"/>
              </a:ext>
            </a:extLst>
          </p:cNvPr>
          <p:cNvSpPr/>
          <p:nvPr/>
        </p:nvSpPr>
        <p:spPr>
          <a:xfrm>
            <a:off x="538938" y="1185276"/>
            <a:ext cx="10827690" cy="6801862"/>
          </a:xfrm>
          <a:prstGeom prst="rect">
            <a:avLst/>
          </a:prstGeom>
          <a:noFill/>
        </p:spPr>
        <p:txBody>
          <a:bodyPr wrap="square" lIns="91440" tIns="45720" rIns="91440" bIns="45720">
            <a:spAutoFit/>
          </a:bodyPr>
          <a:lstStyle/>
          <a:p>
            <a:pPr marL="457200" indent="-457200">
              <a:buFont typeface="Arial" panose="020B0604020202020204" pitchFamily="34" charset="0"/>
              <a:buChar char="•"/>
            </a:pPr>
            <a:r>
              <a:rPr lang="en-IN" sz="2000" dirty="0">
                <a:ln w="0"/>
                <a:solidFill>
                  <a:schemeClr val="accent1"/>
                </a:solidFill>
                <a:effectLst>
                  <a:outerShdw blurRad="38100" dist="25400" dir="5400000" algn="ctr" rotWithShape="0">
                    <a:srgbClr val="6E747A">
                      <a:alpha val="43000"/>
                    </a:srgbClr>
                  </a:outerShdw>
                </a:effectLst>
              </a:rPr>
              <a:t>We observed that loan repayment term plays a factor in predicting the default rate</a:t>
            </a:r>
            <a:endParaRPr lang="en-IN" sz="2000" b="1" i="0" dirty="0">
              <a:solidFill>
                <a:srgbClr val="000000"/>
              </a:solidFill>
              <a:effectLst/>
              <a:latin typeface="Helvetica Neue"/>
            </a:endParaRPr>
          </a:p>
          <a:p>
            <a:pPr marL="457200" indent="-457200">
              <a:buFont typeface="Arial" panose="020B0604020202020204" pitchFamily="34" charset="0"/>
              <a:buChar char="•"/>
            </a:pPr>
            <a:r>
              <a:rPr lang="en-IN" sz="2000" dirty="0">
                <a:ln w="0"/>
                <a:solidFill>
                  <a:schemeClr val="accent1"/>
                </a:solidFill>
                <a:effectLst>
                  <a:outerShdw blurRad="38100" dist="25400" dir="5400000" algn="ctr" rotWithShape="0">
                    <a:srgbClr val="6E747A">
                      <a:alpha val="43000"/>
                    </a:srgbClr>
                  </a:outerShdw>
                </a:effectLst>
              </a:rPr>
              <a:t>We observe that for G, F, E and D form grades, the default rate is much higher than others</a:t>
            </a:r>
          </a:p>
          <a:p>
            <a:pPr marL="457200" indent="-457200">
              <a:buFont typeface="Arial" panose="020B0604020202020204" pitchFamily="34" charset="0"/>
              <a:buChar char="•"/>
            </a:pPr>
            <a:r>
              <a:rPr lang="en-IN" sz="2000" dirty="0">
                <a:ln w="0"/>
                <a:solidFill>
                  <a:schemeClr val="accent1"/>
                </a:solidFill>
                <a:effectLst>
                  <a:outerShdw blurRad="38100" dist="25400" dir="5400000" algn="ctr" rotWithShape="0">
                    <a:srgbClr val="6E747A">
                      <a:alpha val="43000"/>
                    </a:srgbClr>
                  </a:outerShdw>
                </a:effectLst>
              </a:rPr>
              <a:t>We observe that the G3 and F5 sub grades have default rate greater than 40%. This field is a clear indicator of the default percent</a:t>
            </a:r>
          </a:p>
          <a:p>
            <a:pPr marL="457200" indent="-457200">
              <a:buFont typeface="Arial" panose="020B0604020202020204" pitchFamily="34" charset="0"/>
              <a:buChar char="•"/>
            </a:pPr>
            <a:r>
              <a:rPr lang="en-IN" sz="2000" dirty="0">
                <a:ln w="0"/>
                <a:solidFill>
                  <a:schemeClr val="accent1"/>
                </a:solidFill>
                <a:effectLst>
                  <a:outerShdw blurRad="38100" dist="25400" dir="5400000" algn="ctr" rotWithShape="0">
                    <a:srgbClr val="6E747A">
                      <a:alpha val="43000"/>
                    </a:srgbClr>
                  </a:outerShdw>
                </a:effectLst>
              </a:rPr>
              <a:t>We observe that Verified applicants have higher loan default percentage. Hence we infer that there is gap in the verification process</a:t>
            </a:r>
          </a:p>
          <a:p>
            <a:pPr marL="457200" indent="-457200">
              <a:buFont typeface="Arial" panose="020B0604020202020204" pitchFamily="34" charset="0"/>
              <a:buChar char="•"/>
            </a:pPr>
            <a:r>
              <a:rPr lang="en-IN" sz="2000" dirty="0">
                <a:ln w="0"/>
                <a:solidFill>
                  <a:schemeClr val="accent1"/>
                </a:solidFill>
                <a:effectLst>
                  <a:outerShdw blurRad="38100" dist="25400" dir="5400000" algn="ctr" rotWithShape="0">
                    <a:srgbClr val="6E747A">
                      <a:alpha val="43000"/>
                    </a:srgbClr>
                  </a:outerShdw>
                </a:effectLst>
              </a:rPr>
              <a:t>We observed that loans taken for </a:t>
            </a:r>
            <a:r>
              <a:rPr lang="en-IN" sz="2000" dirty="0" err="1">
                <a:ln w="0"/>
                <a:solidFill>
                  <a:schemeClr val="accent1"/>
                </a:solidFill>
                <a:effectLst>
                  <a:outerShdw blurRad="38100" dist="25400" dir="5400000" algn="ctr" rotWithShape="0">
                    <a:srgbClr val="6E747A">
                      <a:alpha val="43000"/>
                    </a:srgbClr>
                  </a:outerShdw>
                </a:effectLst>
              </a:rPr>
              <a:t>small_business</a:t>
            </a:r>
            <a:r>
              <a:rPr lang="en-IN" sz="2000" dirty="0">
                <a:ln w="0"/>
                <a:solidFill>
                  <a:schemeClr val="accent1"/>
                </a:solidFill>
                <a:effectLst>
                  <a:outerShdw blurRad="38100" dist="25400" dir="5400000" algn="ctr" rotWithShape="0">
                    <a:srgbClr val="6E747A">
                      <a:alpha val="43000"/>
                    </a:srgbClr>
                  </a:outerShdw>
                </a:effectLst>
              </a:rPr>
              <a:t>, </a:t>
            </a:r>
            <a:r>
              <a:rPr lang="en-IN" sz="2000" dirty="0" err="1">
                <a:ln w="0"/>
                <a:solidFill>
                  <a:schemeClr val="accent1"/>
                </a:solidFill>
                <a:effectLst>
                  <a:outerShdw blurRad="38100" dist="25400" dir="5400000" algn="ctr" rotWithShape="0">
                    <a:srgbClr val="6E747A">
                      <a:alpha val="43000"/>
                    </a:srgbClr>
                  </a:outerShdw>
                </a:effectLst>
              </a:rPr>
              <a:t>renewable_energy</a:t>
            </a:r>
            <a:r>
              <a:rPr lang="en-IN" sz="2000" dirty="0">
                <a:ln w="0"/>
                <a:solidFill>
                  <a:schemeClr val="accent1"/>
                </a:solidFill>
                <a:effectLst>
                  <a:outerShdw blurRad="38100" dist="25400" dir="5400000" algn="ctr" rotWithShape="0">
                    <a:srgbClr val="6E747A">
                      <a:alpha val="43000"/>
                    </a:srgbClr>
                  </a:outerShdw>
                </a:effectLst>
              </a:rPr>
              <a:t> and educational have higher risks associated with it in terms of loan default</a:t>
            </a:r>
          </a:p>
          <a:p>
            <a:pPr marL="457200" indent="-457200">
              <a:buFont typeface="Arial" panose="020B0604020202020204" pitchFamily="34" charset="0"/>
              <a:buChar char="•"/>
            </a:pPr>
            <a:r>
              <a:rPr lang="en-IN" sz="2000" dirty="0">
                <a:ln w="0"/>
                <a:solidFill>
                  <a:schemeClr val="accent1"/>
                </a:solidFill>
                <a:effectLst>
                  <a:outerShdw blurRad="38100" dist="25400" dir="5400000" algn="ctr" rotWithShape="0">
                    <a:srgbClr val="6E747A">
                      <a:alpha val="43000"/>
                    </a:srgbClr>
                  </a:outerShdw>
                </a:effectLst>
              </a:rPr>
              <a:t>We observed that NE, NV, SD, AK, FL, MO states show higher risks of loan default</a:t>
            </a:r>
          </a:p>
          <a:p>
            <a:pPr marL="457200" indent="-457200">
              <a:buFont typeface="Arial" panose="020B0604020202020204" pitchFamily="34" charset="0"/>
              <a:buChar char="•"/>
            </a:pPr>
            <a:r>
              <a:rPr lang="en-IN" sz="2000" dirty="0">
                <a:ln w="0"/>
                <a:solidFill>
                  <a:schemeClr val="accent1"/>
                </a:solidFill>
                <a:effectLst>
                  <a:outerShdw blurRad="38100" dist="25400" dir="5400000" algn="ctr" rotWithShape="0">
                    <a:srgbClr val="6E747A">
                      <a:alpha val="43000"/>
                    </a:srgbClr>
                  </a:outerShdw>
                </a:effectLst>
              </a:rPr>
              <a:t>We observed that applicants with non-zero derogatory public records have greater chances of loan default</a:t>
            </a:r>
          </a:p>
          <a:p>
            <a:pPr marL="457200" indent="-457200">
              <a:buFont typeface="Arial" panose="020B0604020202020204" pitchFamily="34" charset="0"/>
              <a:buChar char="•"/>
            </a:pPr>
            <a:r>
              <a:rPr lang="en-IN" sz="2000" dirty="0">
                <a:ln w="0"/>
                <a:solidFill>
                  <a:schemeClr val="accent1"/>
                </a:solidFill>
                <a:effectLst>
                  <a:outerShdw blurRad="38100" dist="25400" dir="5400000" algn="ctr" rotWithShape="0">
                    <a:srgbClr val="6E747A">
                      <a:alpha val="43000"/>
                    </a:srgbClr>
                  </a:outerShdw>
                </a:effectLst>
              </a:rPr>
              <a:t>We observed that higher is the number of public bankruptcy records, greater is the chance of loan default.</a:t>
            </a:r>
          </a:p>
          <a:p>
            <a:pPr marL="457200" indent="-457200">
              <a:buFont typeface="Arial" panose="020B0604020202020204" pitchFamily="34" charset="0"/>
              <a:buChar char="•"/>
            </a:pPr>
            <a:r>
              <a:rPr lang="en-IN" sz="2000" dirty="0">
                <a:ln w="0"/>
                <a:solidFill>
                  <a:schemeClr val="accent1"/>
                </a:solidFill>
                <a:effectLst>
                  <a:outerShdw blurRad="38100" dist="25400" dir="5400000" algn="ctr" rotWithShape="0">
                    <a:srgbClr val="6E747A">
                      <a:alpha val="43000"/>
                    </a:srgbClr>
                  </a:outerShdw>
                </a:effectLst>
              </a:rPr>
              <a:t>We observed that the December month has the highest number of loan applications per year and the biggest default ratio. This is festive season. Month of May is also another one, which is during the summer break and right before the Memorial day and Independence day breaks in US</a:t>
            </a:r>
          </a:p>
          <a:p>
            <a:pPr marL="457200" indent="-457200">
              <a:buFont typeface="Arial" panose="020B0604020202020204" pitchFamily="34" charset="0"/>
              <a:buChar char="•"/>
            </a:pPr>
            <a:endParaRPr lang="en-IN" sz="20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US" sz="2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251439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Rectangle 1">
            <a:extLst>
              <a:ext uri="{FF2B5EF4-FFF2-40B4-BE49-F238E27FC236}">
                <a16:creationId xmlns:a16="http://schemas.microsoft.com/office/drawing/2014/main" id="{BD868DC4-DCE8-4031-AA9A-6F0678B5F787}"/>
              </a:ext>
            </a:extLst>
          </p:cNvPr>
          <p:cNvSpPr/>
          <p:nvPr/>
        </p:nvSpPr>
        <p:spPr>
          <a:xfrm>
            <a:off x="188301" y="245145"/>
            <a:ext cx="10974864"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Univariate Analysis: Reference graphs</a:t>
            </a:r>
          </a:p>
        </p:txBody>
      </p:sp>
      <p:pic>
        <p:nvPicPr>
          <p:cNvPr id="5" name="Picture 4">
            <a:extLst>
              <a:ext uri="{FF2B5EF4-FFF2-40B4-BE49-F238E27FC236}">
                <a16:creationId xmlns:a16="http://schemas.microsoft.com/office/drawing/2014/main" id="{73EB974B-4C6C-4E59-AA09-1D5A5D7F0703}"/>
              </a:ext>
            </a:extLst>
          </p:cNvPr>
          <p:cNvPicPr>
            <a:picLocks noChangeAspect="1"/>
          </p:cNvPicPr>
          <p:nvPr/>
        </p:nvPicPr>
        <p:blipFill>
          <a:blip r:embed="rId2"/>
          <a:stretch>
            <a:fillRect/>
          </a:stretch>
        </p:blipFill>
        <p:spPr>
          <a:xfrm>
            <a:off x="202601" y="1239354"/>
            <a:ext cx="3802078" cy="3528139"/>
          </a:xfrm>
          <a:prstGeom prst="rect">
            <a:avLst/>
          </a:prstGeom>
        </p:spPr>
      </p:pic>
      <p:pic>
        <p:nvPicPr>
          <p:cNvPr id="11" name="Picture 10">
            <a:extLst>
              <a:ext uri="{FF2B5EF4-FFF2-40B4-BE49-F238E27FC236}">
                <a16:creationId xmlns:a16="http://schemas.microsoft.com/office/drawing/2014/main" id="{2D37E0A7-4237-47FF-B791-DA063D282983}"/>
              </a:ext>
            </a:extLst>
          </p:cNvPr>
          <p:cNvPicPr>
            <a:picLocks noChangeAspect="1"/>
          </p:cNvPicPr>
          <p:nvPr/>
        </p:nvPicPr>
        <p:blipFill>
          <a:blip r:embed="rId3"/>
          <a:stretch>
            <a:fillRect/>
          </a:stretch>
        </p:blipFill>
        <p:spPr>
          <a:xfrm>
            <a:off x="4206975" y="1239354"/>
            <a:ext cx="3371388" cy="1981512"/>
          </a:xfrm>
          <a:prstGeom prst="rect">
            <a:avLst/>
          </a:prstGeom>
        </p:spPr>
      </p:pic>
      <p:pic>
        <p:nvPicPr>
          <p:cNvPr id="22" name="Picture 21">
            <a:extLst>
              <a:ext uri="{FF2B5EF4-FFF2-40B4-BE49-F238E27FC236}">
                <a16:creationId xmlns:a16="http://schemas.microsoft.com/office/drawing/2014/main" id="{66F64A3C-A773-4DC5-8BFD-3C8638D2018F}"/>
              </a:ext>
            </a:extLst>
          </p:cNvPr>
          <p:cNvPicPr>
            <a:picLocks noChangeAspect="1"/>
          </p:cNvPicPr>
          <p:nvPr/>
        </p:nvPicPr>
        <p:blipFill>
          <a:blip r:embed="rId4"/>
          <a:stretch>
            <a:fillRect/>
          </a:stretch>
        </p:blipFill>
        <p:spPr>
          <a:xfrm>
            <a:off x="7669290" y="1384080"/>
            <a:ext cx="3135491" cy="1751432"/>
          </a:xfrm>
          <a:prstGeom prst="rect">
            <a:avLst/>
          </a:prstGeom>
        </p:spPr>
      </p:pic>
      <p:pic>
        <p:nvPicPr>
          <p:cNvPr id="24" name="Picture 23">
            <a:extLst>
              <a:ext uri="{FF2B5EF4-FFF2-40B4-BE49-F238E27FC236}">
                <a16:creationId xmlns:a16="http://schemas.microsoft.com/office/drawing/2014/main" id="{3F50DE9C-01D2-4B7A-8537-1B11C6752294}"/>
              </a:ext>
            </a:extLst>
          </p:cNvPr>
          <p:cNvPicPr>
            <a:picLocks noChangeAspect="1"/>
          </p:cNvPicPr>
          <p:nvPr/>
        </p:nvPicPr>
        <p:blipFill>
          <a:blip r:embed="rId5"/>
          <a:stretch>
            <a:fillRect/>
          </a:stretch>
        </p:blipFill>
        <p:spPr>
          <a:xfrm>
            <a:off x="4222320" y="3333146"/>
            <a:ext cx="3371388" cy="1741683"/>
          </a:xfrm>
          <a:prstGeom prst="rect">
            <a:avLst/>
          </a:prstGeom>
        </p:spPr>
      </p:pic>
      <p:pic>
        <p:nvPicPr>
          <p:cNvPr id="26" name="Picture 25">
            <a:extLst>
              <a:ext uri="{FF2B5EF4-FFF2-40B4-BE49-F238E27FC236}">
                <a16:creationId xmlns:a16="http://schemas.microsoft.com/office/drawing/2014/main" id="{D1276BE9-3289-40E4-999F-D67623C807D3}"/>
              </a:ext>
            </a:extLst>
          </p:cNvPr>
          <p:cNvPicPr>
            <a:picLocks noChangeAspect="1"/>
          </p:cNvPicPr>
          <p:nvPr/>
        </p:nvPicPr>
        <p:blipFill>
          <a:blip r:embed="rId6"/>
          <a:stretch>
            <a:fillRect/>
          </a:stretch>
        </p:blipFill>
        <p:spPr>
          <a:xfrm>
            <a:off x="7742926" y="3277026"/>
            <a:ext cx="3061856" cy="1751432"/>
          </a:xfrm>
          <a:prstGeom prst="rect">
            <a:avLst/>
          </a:prstGeom>
        </p:spPr>
      </p:pic>
      <p:pic>
        <p:nvPicPr>
          <p:cNvPr id="28" name="Picture 27">
            <a:extLst>
              <a:ext uri="{FF2B5EF4-FFF2-40B4-BE49-F238E27FC236}">
                <a16:creationId xmlns:a16="http://schemas.microsoft.com/office/drawing/2014/main" id="{42BB791E-8DC7-49CA-961B-E6775C96B66E}"/>
              </a:ext>
            </a:extLst>
          </p:cNvPr>
          <p:cNvPicPr>
            <a:picLocks noChangeAspect="1"/>
          </p:cNvPicPr>
          <p:nvPr/>
        </p:nvPicPr>
        <p:blipFill>
          <a:blip r:embed="rId7"/>
          <a:stretch>
            <a:fillRect/>
          </a:stretch>
        </p:blipFill>
        <p:spPr>
          <a:xfrm>
            <a:off x="226595" y="4838373"/>
            <a:ext cx="3038889" cy="1877867"/>
          </a:xfrm>
          <a:prstGeom prst="rect">
            <a:avLst/>
          </a:prstGeom>
        </p:spPr>
      </p:pic>
      <p:pic>
        <p:nvPicPr>
          <p:cNvPr id="30" name="Picture 29">
            <a:extLst>
              <a:ext uri="{FF2B5EF4-FFF2-40B4-BE49-F238E27FC236}">
                <a16:creationId xmlns:a16="http://schemas.microsoft.com/office/drawing/2014/main" id="{95FF550A-6A27-41E3-B8CE-A92687B22AE7}"/>
              </a:ext>
            </a:extLst>
          </p:cNvPr>
          <p:cNvPicPr>
            <a:picLocks noChangeAspect="1"/>
          </p:cNvPicPr>
          <p:nvPr/>
        </p:nvPicPr>
        <p:blipFill>
          <a:blip r:embed="rId8"/>
          <a:stretch>
            <a:fillRect/>
          </a:stretch>
        </p:blipFill>
        <p:spPr>
          <a:xfrm>
            <a:off x="3414701" y="5074829"/>
            <a:ext cx="3101305" cy="1733082"/>
          </a:xfrm>
          <a:prstGeom prst="rect">
            <a:avLst/>
          </a:prstGeom>
        </p:spPr>
      </p:pic>
      <p:pic>
        <p:nvPicPr>
          <p:cNvPr id="32" name="Picture 31">
            <a:extLst>
              <a:ext uri="{FF2B5EF4-FFF2-40B4-BE49-F238E27FC236}">
                <a16:creationId xmlns:a16="http://schemas.microsoft.com/office/drawing/2014/main" id="{B371599A-DEA0-4DF5-A37A-F685ED4C814B}"/>
              </a:ext>
            </a:extLst>
          </p:cNvPr>
          <p:cNvPicPr>
            <a:picLocks noChangeAspect="1"/>
          </p:cNvPicPr>
          <p:nvPr/>
        </p:nvPicPr>
        <p:blipFill>
          <a:blip r:embed="rId9"/>
          <a:stretch>
            <a:fillRect/>
          </a:stretch>
        </p:blipFill>
        <p:spPr>
          <a:xfrm>
            <a:off x="6661614" y="5117829"/>
            <a:ext cx="2847420" cy="1598411"/>
          </a:xfrm>
          <a:prstGeom prst="rect">
            <a:avLst/>
          </a:prstGeom>
        </p:spPr>
      </p:pic>
    </p:spTree>
    <p:extLst>
      <p:ext uri="{BB962C8B-B14F-4D97-AF65-F5344CB8AC3E}">
        <p14:creationId xmlns:p14="http://schemas.microsoft.com/office/powerpoint/2010/main" val="3447589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Rectangle 1">
            <a:extLst>
              <a:ext uri="{FF2B5EF4-FFF2-40B4-BE49-F238E27FC236}">
                <a16:creationId xmlns:a16="http://schemas.microsoft.com/office/drawing/2014/main" id="{BD868DC4-DCE8-4031-AA9A-6F0678B5F787}"/>
              </a:ext>
            </a:extLst>
          </p:cNvPr>
          <p:cNvSpPr/>
          <p:nvPr/>
        </p:nvSpPr>
        <p:spPr>
          <a:xfrm>
            <a:off x="131173" y="245145"/>
            <a:ext cx="11089126" cy="584775"/>
          </a:xfrm>
          <a:prstGeom prst="rect">
            <a:avLst/>
          </a:prstGeom>
          <a:noFill/>
        </p:spPr>
        <p:txBody>
          <a:bodyPr wrap="none" lIns="91440" tIns="45720" rIns="91440" bIns="45720">
            <a:spAutoFit/>
          </a:bodyPr>
          <a:lstStyle/>
          <a:p>
            <a:pPr algn="ctr"/>
            <a:r>
              <a:rPr lang="en-US" sz="32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Bivariate Analysis (Combined attribute impact) Key Observations</a:t>
            </a:r>
          </a:p>
        </p:txBody>
      </p:sp>
      <p:sp>
        <p:nvSpPr>
          <p:cNvPr id="20" name="Rectangle 19">
            <a:extLst>
              <a:ext uri="{FF2B5EF4-FFF2-40B4-BE49-F238E27FC236}">
                <a16:creationId xmlns:a16="http://schemas.microsoft.com/office/drawing/2014/main" id="{791E2F31-FAF7-46DC-9B40-CBD2E8CF425D}"/>
              </a:ext>
            </a:extLst>
          </p:cNvPr>
          <p:cNvSpPr/>
          <p:nvPr/>
        </p:nvSpPr>
        <p:spPr>
          <a:xfrm>
            <a:off x="538938" y="1185276"/>
            <a:ext cx="10827690" cy="6370975"/>
          </a:xfrm>
          <a:prstGeom prst="rect">
            <a:avLst/>
          </a:prstGeom>
          <a:noFill/>
        </p:spPr>
        <p:txBody>
          <a:bodyPr wrap="square" lIns="91440" tIns="45720" rIns="91440" bIns="45720">
            <a:spAutoFit/>
          </a:bodyPr>
          <a:lstStyle/>
          <a:p>
            <a:pPr marL="457200" indent="-457200">
              <a:buFont typeface="Arial" panose="020B0604020202020204" pitchFamily="34" charset="0"/>
              <a:buChar char="•"/>
            </a:pPr>
            <a:r>
              <a:rPr lang="en-IN" sz="2400" dirty="0">
                <a:ln w="0"/>
                <a:solidFill>
                  <a:schemeClr val="accent1"/>
                </a:solidFill>
                <a:effectLst>
                  <a:outerShdw blurRad="38100" dist="25400" dir="5400000" algn="ctr" rotWithShape="0">
                    <a:srgbClr val="6E747A">
                      <a:alpha val="43000"/>
                    </a:srgbClr>
                  </a:outerShdw>
                </a:effectLst>
              </a:rPr>
              <a:t>We observed that loan repayment term plays a factor in predicting the default rate</a:t>
            </a:r>
          </a:p>
          <a:p>
            <a:pPr marL="457200" indent="-457200">
              <a:buFont typeface="Arial" panose="020B0604020202020204" pitchFamily="34" charset="0"/>
              <a:buChar char="•"/>
            </a:pPr>
            <a:r>
              <a:rPr lang="en-IN" sz="2400" dirty="0">
                <a:ln w="0"/>
                <a:solidFill>
                  <a:schemeClr val="accent1"/>
                </a:solidFill>
                <a:effectLst>
                  <a:outerShdw blurRad="38100" dist="25400" dir="5400000" algn="ctr" rotWithShape="0">
                    <a:srgbClr val="6E747A">
                      <a:alpha val="43000"/>
                    </a:srgbClr>
                  </a:outerShdw>
                </a:effectLst>
              </a:rPr>
              <a:t>We observed that higher instalments for any income group have more number of loan defaults</a:t>
            </a:r>
          </a:p>
          <a:p>
            <a:pPr marL="457200" indent="-457200">
              <a:buFont typeface="Arial" panose="020B0604020202020204" pitchFamily="34" charset="0"/>
              <a:buChar char="•"/>
            </a:pPr>
            <a:r>
              <a:rPr lang="en-IN" sz="2400" dirty="0">
                <a:ln w="0"/>
                <a:solidFill>
                  <a:schemeClr val="accent1"/>
                </a:solidFill>
                <a:effectLst>
                  <a:outerShdw blurRad="38100" dist="25400" dir="5400000" algn="ctr" rotWithShape="0">
                    <a:srgbClr val="6E747A">
                      <a:alpha val="43000"/>
                    </a:srgbClr>
                  </a:outerShdw>
                </a:effectLst>
              </a:rPr>
              <a:t>We observe that greater is the correlation of </a:t>
            </a:r>
            <a:r>
              <a:rPr lang="en-IN" sz="2400" dirty="0" err="1">
                <a:ln w="0"/>
                <a:solidFill>
                  <a:schemeClr val="accent1"/>
                </a:solidFill>
                <a:effectLst>
                  <a:outerShdw blurRad="38100" dist="25400" dir="5400000" algn="ctr" rotWithShape="0">
                    <a:srgbClr val="6E747A">
                      <a:alpha val="43000"/>
                    </a:srgbClr>
                  </a:outerShdw>
                </a:effectLst>
              </a:rPr>
              <a:t>addr_state</a:t>
            </a:r>
            <a:r>
              <a:rPr lang="en-IN" sz="2400" dirty="0">
                <a:ln w="0"/>
                <a:solidFill>
                  <a:schemeClr val="accent1"/>
                </a:solidFill>
                <a:effectLst>
                  <a:outerShdw blurRad="38100" dist="25400" dir="5400000" algn="ctr" rotWithShape="0">
                    <a:srgbClr val="6E747A">
                      <a:alpha val="43000"/>
                    </a:srgbClr>
                  </a:outerShdw>
                </a:effectLst>
              </a:rPr>
              <a:t> with the purpose of the loan, the greater is the chance of loan default</a:t>
            </a:r>
          </a:p>
          <a:p>
            <a:pPr marL="457200" indent="-457200">
              <a:buFont typeface="Arial" panose="020B0604020202020204" pitchFamily="34" charset="0"/>
              <a:buChar char="•"/>
            </a:pPr>
            <a:r>
              <a:rPr lang="en-IN" sz="2400" dirty="0">
                <a:ln w="0"/>
                <a:solidFill>
                  <a:schemeClr val="accent1"/>
                </a:solidFill>
                <a:effectLst>
                  <a:outerShdw blurRad="38100" dist="25400" dir="5400000" algn="ctr" rotWithShape="0">
                    <a:srgbClr val="6E747A">
                      <a:alpha val="43000"/>
                    </a:srgbClr>
                  </a:outerShdw>
                </a:effectLst>
              </a:rPr>
              <a:t>By comparing the annual income with loan purpose we observed that small business loans for lowest and medium income groups have high chances of loan default. Also renewable energy loans for higher income group show the same trend.</a:t>
            </a:r>
          </a:p>
          <a:p>
            <a:pPr marL="457200" indent="-457200">
              <a:buFont typeface="Arial" panose="020B0604020202020204" pitchFamily="34" charset="0"/>
              <a:buChar char="•"/>
            </a:pPr>
            <a:r>
              <a:rPr lang="en-IN" sz="2400" dirty="0">
                <a:ln w="0"/>
                <a:solidFill>
                  <a:schemeClr val="accent1"/>
                </a:solidFill>
                <a:effectLst>
                  <a:outerShdw blurRad="38100" dist="25400" dir="5400000" algn="ctr" rotWithShape="0">
                    <a:srgbClr val="6E747A">
                      <a:alpha val="43000"/>
                    </a:srgbClr>
                  </a:outerShdw>
                </a:effectLst>
              </a:rPr>
              <a:t>When we compare annual income with debt-to-income group, we observe that medium debt-to-income group in the lowest income range shows high trend of loan default</a:t>
            </a:r>
          </a:p>
          <a:p>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US" sz="2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609542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Rectangle 1">
            <a:extLst>
              <a:ext uri="{FF2B5EF4-FFF2-40B4-BE49-F238E27FC236}">
                <a16:creationId xmlns:a16="http://schemas.microsoft.com/office/drawing/2014/main" id="{BD868DC4-DCE8-4031-AA9A-6F0678B5F787}"/>
              </a:ext>
            </a:extLst>
          </p:cNvPr>
          <p:cNvSpPr/>
          <p:nvPr/>
        </p:nvSpPr>
        <p:spPr>
          <a:xfrm>
            <a:off x="406309" y="245145"/>
            <a:ext cx="10538847"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Bivariate Analysis: Reference graphs</a:t>
            </a:r>
          </a:p>
        </p:txBody>
      </p:sp>
      <p:pic>
        <p:nvPicPr>
          <p:cNvPr id="4" name="Picture 3">
            <a:extLst>
              <a:ext uri="{FF2B5EF4-FFF2-40B4-BE49-F238E27FC236}">
                <a16:creationId xmlns:a16="http://schemas.microsoft.com/office/drawing/2014/main" id="{361D9DE5-F112-460E-B0C8-720F5B42037D}"/>
              </a:ext>
            </a:extLst>
          </p:cNvPr>
          <p:cNvPicPr>
            <a:picLocks noChangeAspect="1"/>
          </p:cNvPicPr>
          <p:nvPr/>
        </p:nvPicPr>
        <p:blipFill>
          <a:blip r:embed="rId2"/>
          <a:stretch>
            <a:fillRect/>
          </a:stretch>
        </p:blipFill>
        <p:spPr>
          <a:xfrm>
            <a:off x="559168" y="1412750"/>
            <a:ext cx="4110229" cy="2286736"/>
          </a:xfrm>
          <a:prstGeom prst="rect">
            <a:avLst/>
          </a:prstGeom>
        </p:spPr>
      </p:pic>
      <p:pic>
        <p:nvPicPr>
          <p:cNvPr id="6" name="Picture 5">
            <a:extLst>
              <a:ext uri="{FF2B5EF4-FFF2-40B4-BE49-F238E27FC236}">
                <a16:creationId xmlns:a16="http://schemas.microsoft.com/office/drawing/2014/main" id="{A3A80DB0-CF79-43B6-BB91-51756D6BB082}"/>
              </a:ext>
            </a:extLst>
          </p:cNvPr>
          <p:cNvPicPr>
            <a:picLocks noChangeAspect="1"/>
          </p:cNvPicPr>
          <p:nvPr/>
        </p:nvPicPr>
        <p:blipFill>
          <a:blip r:embed="rId3"/>
          <a:stretch>
            <a:fillRect/>
          </a:stretch>
        </p:blipFill>
        <p:spPr>
          <a:xfrm>
            <a:off x="5099759" y="1304877"/>
            <a:ext cx="6218526" cy="2394609"/>
          </a:xfrm>
          <a:prstGeom prst="rect">
            <a:avLst/>
          </a:prstGeom>
        </p:spPr>
      </p:pic>
      <p:pic>
        <p:nvPicPr>
          <p:cNvPr id="9" name="Picture 8">
            <a:extLst>
              <a:ext uri="{FF2B5EF4-FFF2-40B4-BE49-F238E27FC236}">
                <a16:creationId xmlns:a16="http://schemas.microsoft.com/office/drawing/2014/main" id="{949D50A8-1FDB-4342-86EC-E39A562DD041}"/>
              </a:ext>
            </a:extLst>
          </p:cNvPr>
          <p:cNvPicPr>
            <a:picLocks noChangeAspect="1"/>
          </p:cNvPicPr>
          <p:nvPr/>
        </p:nvPicPr>
        <p:blipFill>
          <a:blip r:embed="rId4"/>
          <a:stretch>
            <a:fillRect/>
          </a:stretch>
        </p:blipFill>
        <p:spPr>
          <a:xfrm>
            <a:off x="513228" y="4207688"/>
            <a:ext cx="4202110" cy="2034237"/>
          </a:xfrm>
          <a:prstGeom prst="rect">
            <a:avLst/>
          </a:prstGeom>
        </p:spPr>
      </p:pic>
      <p:pic>
        <p:nvPicPr>
          <p:cNvPr id="21" name="Picture 20">
            <a:extLst>
              <a:ext uri="{FF2B5EF4-FFF2-40B4-BE49-F238E27FC236}">
                <a16:creationId xmlns:a16="http://schemas.microsoft.com/office/drawing/2014/main" id="{66C87614-61A1-4FE2-976B-E55A895A5024}"/>
              </a:ext>
            </a:extLst>
          </p:cNvPr>
          <p:cNvPicPr>
            <a:picLocks noChangeAspect="1"/>
          </p:cNvPicPr>
          <p:nvPr/>
        </p:nvPicPr>
        <p:blipFill>
          <a:blip r:embed="rId5"/>
          <a:stretch>
            <a:fillRect/>
          </a:stretch>
        </p:blipFill>
        <p:spPr>
          <a:xfrm>
            <a:off x="5099759" y="3835888"/>
            <a:ext cx="6297247" cy="2867987"/>
          </a:xfrm>
          <a:prstGeom prst="rect">
            <a:avLst/>
          </a:prstGeom>
        </p:spPr>
      </p:pic>
    </p:spTree>
    <p:extLst>
      <p:ext uri="{BB962C8B-B14F-4D97-AF65-F5344CB8AC3E}">
        <p14:creationId xmlns:p14="http://schemas.microsoft.com/office/powerpoint/2010/main" val="3054733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Rectangle 1">
            <a:extLst>
              <a:ext uri="{FF2B5EF4-FFF2-40B4-BE49-F238E27FC236}">
                <a16:creationId xmlns:a16="http://schemas.microsoft.com/office/drawing/2014/main" id="{BD868DC4-DCE8-4031-AA9A-6F0678B5F787}"/>
              </a:ext>
            </a:extLst>
          </p:cNvPr>
          <p:cNvSpPr/>
          <p:nvPr/>
        </p:nvSpPr>
        <p:spPr>
          <a:xfrm>
            <a:off x="3293600" y="245145"/>
            <a:ext cx="4764254"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Final conclusion</a:t>
            </a:r>
          </a:p>
        </p:txBody>
      </p:sp>
      <p:sp>
        <p:nvSpPr>
          <p:cNvPr id="20" name="Rectangle 19">
            <a:extLst>
              <a:ext uri="{FF2B5EF4-FFF2-40B4-BE49-F238E27FC236}">
                <a16:creationId xmlns:a16="http://schemas.microsoft.com/office/drawing/2014/main" id="{791E2F31-FAF7-46DC-9B40-CBD2E8CF425D}"/>
              </a:ext>
            </a:extLst>
          </p:cNvPr>
          <p:cNvSpPr/>
          <p:nvPr/>
        </p:nvSpPr>
        <p:spPr>
          <a:xfrm>
            <a:off x="538938" y="1185276"/>
            <a:ext cx="10827690" cy="1569660"/>
          </a:xfrm>
          <a:prstGeom prst="rect">
            <a:avLst/>
          </a:prstGeom>
          <a:noFill/>
        </p:spPr>
        <p:txBody>
          <a:bodyPr wrap="square" lIns="91440" tIns="45720" rIns="91440" bIns="45720">
            <a:spAutoFit/>
          </a:bodyPr>
          <a:lstStyle/>
          <a:p>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US" sz="2400" b="0" cap="none" spc="0" dirty="0">
              <a:ln w="0"/>
              <a:solidFill>
                <a:schemeClr val="accent1"/>
              </a:solidFill>
              <a:effectLst>
                <a:outerShdw blurRad="38100" dist="25400" dir="5400000" algn="ctr" rotWithShape="0">
                  <a:srgbClr val="6E747A">
                    <a:alpha val="43000"/>
                  </a:srgbClr>
                </a:outerShdw>
              </a:effectLst>
            </a:endParaRPr>
          </a:p>
        </p:txBody>
      </p:sp>
      <p:sp>
        <p:nvSpPr>
          <p:cNvPr id="21" name="Rectangle 20">
            <a:extLst>
              <a:ext uri="{FF2B5EF4-FFF2-40B4-BE49-F238E27FC236}">
                <a16:creationId xmlns:a16="http://schemas.microsoft.com/office/drawing/2014/main" id="{B2CD512E-2F9E-4688-93A3-3EB96FEFF7B3}"/>
              </a:ext>
            </a:extLst>
          </p:cNvPr>
          <p:cNvSpPr/>
          <p:nvPr/>
        </p:nvSpPr>
        <p:spPr>
          <a:xfrm>
            <a:off x="163521" y="1213851"/>
            <a:ext cx="11024412" cy="6555641"/>
          </a:xfrm>
          <a:prstGeom prst="rect">
            <a:avLst/>
          </a:prstGeom>
          <a:noFill/>
        </p:spPr>
        <p:txBody>
          <a:bodyPr wrap="square" lIns="91440" tIns="45720" rIns="91440" bIns="45720">
            <a:spAutoFit/>
          </a:bodyPr>
          <a:lstStyle/>
          <a:p>
            <a:r>
              <a:rPr lang="en-IN" dirty="0">
                <a:ln w="0"/>
                <a:solidFill>
                  <a:schemeClr val="accent1"/>
                </a:solidFill>
                <a:effectLst>
                  <a:outerShdw blurRad="38100" dist="25400" dir="5400000" algn="ctr" rotWithShape="0">
                    <a:srgbClr val="6E747A">
                      <a:alpha val="43000"/>
                    </a:srgbClr>
                  </a:outerShdw>
                </a:effectLst>
              </a:rPr>
              <a:t>We have categorized our results under 2 categories</a:t>
            </a:r>
          </a:p>
          <a:p>
            <a:pPr lvl="1" indent="-34290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Attributes showing lesser impact to the trend of loan default</a:t>
            </a:r>
          </a:p>
          <a:p>
            <a:pPr lvl="1" indent="-34290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Attributes showing higher impact to the trend of loan default</a:t>
            </a:r>
          </a:p>
          <a:p>
            <a:endParaRPr lang="en-IN" dirty="0">
              <a:ln w="0"/>
              <a:solidFill>
                <a:schemeClr val="accent1"/>
              </a:solidFill>
              <a:effectLst>
                <a:outerShdw blurRad="38100" dist="25400" dir="5400000" algn="ctr" rotWithShape="0">
                  <a:srgbClr val="6E747A">
                    <a:alpha val="43000"/>
                  </a:srgbClr>
                </a:outerShdw>
              </a:effectLst>
            </a:endParaRPr>
          </a:p>
          <a:p>
            <a:pPr algn="l"/>
            <a:r>
              <a:rPr lang="en-IN" b="1" u="sng" dirty="0">
                <a:ln w="0"/>
                <a:solidFill>
                  <a:schemeClr val="accent1"/>
                </a:solidFill>
                <a:effectLst>
                  <a:outerShdw blurRad="38100" dist="25400" dir="5400000" algn="ctr" rotWithShape="0">
                    <a:srgbClr val="6E747A">
                      <a:alpha val="43000"/>
                    </a:srgbClr>
                  </a:outerShdw>
                </a:effectLst>
              </a:rPr>
              <a:t>Lesser impact</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Lower annual income (below 37000)</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Higher loan amount (above 16000)</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Higher debt to income ratio (above 15%)</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Higher instalment amount (above 327)</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Loan issue month (Dec, May)</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Applicant’s address state (NV, SD, AK, FL)</a:t>
            </a:r>
          </a:p>
          <a:p>
            <a:pPr algn="l"/>
            <a:r>
              <a:rPr lang="en-IN" b="1" u="sng" dirty="0">
                <a:ln w="0"/>
                <a:solidFill>
                  <a:schemeClr val="accent1"/>
                </a:solidFill>
                <a:effectLst>
                  <a:outerShdw blurRad="38100" dist="25400" dir="5400000" algn="ctr" rotWithShape="0">
                    <a:srgbClr val="6E747A">
                      <a:alpha val="43000"/>
                    </a:srgbClr>
                  </a:outerShdw>
                </a:effectLst>
              </a:rPr>
              <a:t>Higher impact</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Higher interest rate (above 13%)</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Repayment term (5 years)</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Loan purpose (small business, renewable energy, educational)</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Higher revolving line utilization rate (above 58%)</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Loan grade &amp; sub-grade (D to G)</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Public bankruptcy records (1 or 2)</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Derogatory public records (1 or 2)</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Missing employment record</a:t>
            </a:r>
          </a:p>
          <a:p>
            <a:endParaRPr lang="en-IN"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US" sz="2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472833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Rectangle 1">
            <a:extLst>
              <a:ext uri="{FF2B5EF4-FFF2-40B4-BE49-F238E27FC236}">
                <a16:creationId xmlns:a16="http://schemas.microsoft.com/office/drawing/2014/main" id="{BD868DC4-DCE8-4031-AA9A-6F0678B5F787}"/>
              </a:ext>
            </a:extLst>
          </p:cNvPr>
          <p:cNvSpPr/>
          <p:nvPr/>
        </p:nvSpPr>
        <p:spPr>
          <a:xfrm>
            <a:off x="3293600" y="245145"/>
            <a:ext cx="4764254"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Final conclusion</a:t>
            </a:r>
          </a:p>
        </p:txBody>
      </p:sp>
      <p:sp>
        <p:nvSpPr>
          <p:cNvPr id="20" name="Rectangle 19">
            <a:extLst>
              <a:ext uri="{FF2B5EF4-FFF2-40B4-BE49-F238E27FC236}">
                <a16:creationId xmlns:a16="http://schemas.microsoft.com/office/drawing/2014/main" id="{791E2F31-FAF7-46DC-9B40-CBD2E8CF425D}"/>
              </a:ext>
            </a:extLst>
          </p:cNvPr>
          <p:cNvSpPr/>
          <p:nvPr/>
        </p:nvSpPr>
        <p:spPr>
          <a:xfrm>
            <a:off x="538938" y="1185276"/>
            <a:ext cx="10827690" cy="1569660"/>
          </a:xfrm>
          <a:prstGeom prst="rect">
            <a:avLst/>
          </a:prstGeom>
          <a:noFill/>
        </p:spPr>
        <p:txBody>
          <a:bodyPr wrap="square" lIns="91440" tIns="45720" rIns="91440" bIns="45720">
            <a:spAutoFit/>
          </a:bodyPr>
          <a:lstStyle/>
          <a:p>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sz="2400"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US" sz="2400" b="0" cap="none" spc="0" dirty="0">
              <a:ln w="0"/>
              <a:solidFill>
                <a:schemeClr val="accent1"/>
              </a:solidFill>
              <a:effectLst>
                <a:outerShdw blurRad="38100" dist="25400" dir="5400000" algn="ctr" rotWithShape="0">
                  <a:srgbClr val="6E747A">
                    <a:alpha val="43000"/>
                  </a:srgbClr>
                </a:outerShdw>
              </a:effectLst>
            </a:endParaRPr>
          </a:p>
        </p:txBody>
      </p:sp>
      <p:sp>
        <p:nvSpPr>
          <p:cNvPr id="21" name="Rectangle 20">
            <a:extLst>
              <a:ext uri="{FF2B5EF4-FFF2-40B4-BE49-F238E27FC236}">
                <a16:creationId xmlns:a16="http://schemas.microsoft.com/office/drawing/2014/main" id="{B2CD512E-2F9E-4688-93A3-3EB96FEFF7B3}"/>
              </a:ext>
            </a:extLst>
          </p:cNvPr>
          <p:cNvSpPr/>
          <p:nvPr/>
        </p:nvSpPr>
        <p:spPr>
          <a:xfrm>
            <a:off x="744546" y="1148542"/>
            <a:ext cx="11024412" cy="7386638"/>
          </a:xfrm>
          <a:prstGeom prst="rect">
            <a:avLst/>
          </a:prstGeom>
          <a:noFill/>
        </p:spPr>
        <p:txBody>
          <a:bodyPr wrap="square" lIns="91440" tIns="45720" rIns="91440" bIns="45720">
            <a:spAutoFit/>
          </a:bodyPr>
          <a:lstStyle/>
          <a:p>
            <a:r>
              <a:rPr lang="en-IN" dirty="0">
                <a:ln w="0"/>
                <a:solidFill>
                  <a:schemeClr val="accent1"/>
                </a:solidFill>
                <a:effectLst>
                  <a:outerShdw blurRad="38100" dist="25400" dir="5400000" algn="ctr" rotWithShape="0">
                    <a:srgbClr val="6E747A">
                      <a:alpha val="43000"/>
                    </a:srgbClr>
                  </a:outerShdw>
                </a:effectLst>
              </a:rPr>
              <a:t>In terms of the effects of combined attributes on the tendency of loan default, we observe that the following show higher combined impact</a:t>
            </a:r>
          </a:p>
          <a:p>
            <a:endParaRPr lang="en-IN" dirty="0">
              <a:ln w="0"/>
              <a:solidFill>
                <a:schemeClr val="accent1"/>
              </a:solidFill>
              <a:effectLst>
                <a:outerShdw blurRad="38100" dist="25400" dir="5400000" algn="ctr" rotWithShape="0">
                  <a:srgbClr val="6E747A">
                    <a:alpha val="43000"/>
                  </a:srgbClr>
                </a:outerShdw>
              </a:effectLst>
            </a:endParaRP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High loan amount and interest rate for lower income group</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High instalment and longer repayment term</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Residential state and loan purpose</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Income group and loan purpose</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Home ownership (other) and loan purpose (car, moving or small business)</a:t>
            </a:r>
          </a:p>
          <a:p>
            <a:r>
              <a:rPr lang="en-IN" b="1" u="sng" dirty="0">
                <a:ln w="0"/>
                <a:solidFill>
                  <a:schemeClr val="accent1"/>
                </a:solidFill>
                <a:effectLst>
                  <a:outerShdw blurRad="38100" dist="25400" dir="5400000" algn="ctr" rotWithShape="0">
                    <a:srgbClr val="6E747A">
                      <a:alpha val="43000"/>
                    </a:srgbClr>
                  </a:outerShdw>
                </a:effectLst>
              </a:rPr>
              <a:t>Few Recommendations</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The company should be very cautious in approving loans with high amount and interest rates to lower income group applicants</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The company can structure the loans in a manner  to avoid high instalment and longer repayment terms.</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The company should be careful in approving small business loans to low and medium income groups. The same aspect applies to renewable energy loans for high income group also. The verification process should be more stringent in these cases.</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The company should not approve loans for applicants for whom there are no proper employment records.</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The company should try to avoid approving loans to applicants having Derogatory public records and Public bankruptcy records (1 or 2)</a:t>
            </a:r>
          </a:p>
          <a:p>
            <a:pPr marL="742950" lvl="1" indent="-285750">
              <a:buFont typeface="Arial" panose="020B0604020202020204" pitchFamily="34" charset="0"/>
              <a:buChar char="•"/>
            </a:pPr>
            <a:r>
              <a:rPr lang="en-IN" dirty="0">
                <a:ln w="0"/>
                <a:solidFill>
                  <a:schemeClr val="accent1"/>
                </a:solidFill>
                <a:effectLst>
                  <a:outerShdw blurRad="38100" dist="25400" dir="5400000" algn="ctr" rotWithShape="0">
                    <a:srgbClr val="6E747A">
                      <a:alpha val="43000"/>
                    </a:srgbClr>
                  </a:outerShdw>
                </a:effectLst>
              </a:rPr>
              <a:t>The company should revisit applicant verification process and rectify it to make it more accurate. We had observed that verified applications have more tendency to loan default.</a:t>
            </a:r>
          </a:p>
          <a:p>
            <a:pPr marL="742950" lvl="1" indent="-285750">
              <a:buFont typeface="Arial" panose="020B0604020202020204" pitchFamily="34" charset="0"/>
              <a:buChar char="•"/>
            </a:pPr>
            <a:endParaRPr lang="en-IN" dirty="0">
              <a:ln w="0"/>
              <a:solidFill>
                <a:schemeClr val="accent1"/>
              </a:solidFill>
              <a:effectLst>
                <a:outerShdw blurRad="38100" dist="25400" dir="5400000" algn="ctr" rotWithShape="0">
                  <a:srgbClr val="6E747A">
                    <a:alpha val="43000"/>
                  </a:srgbClr>
                </a:outerShdw>
              </a:effectLst>
            </a:endParaRPr>
          </a:p>
          <a:p>
            <a:pPr marL="742950" lvl="1" indent="-285750">
              <a:buFont typeface="Arial" panose="020B0604020202020204" pitchFamily="34" charset="0"/>
              <a:buChar char="•"/>
            </a:pPr>
            <a:endParaRPr lang="en-IN" dirty="0">
              <a:ln w="0"/>
              <a:solidFill>
                <a:schemeClr val="accent1"/>
              </a:solidFill>
              <a:effectLst>
                <a:outerShdw blurRad="38100" dist="25400" dir="5400000" algn="ctr" rotWithShape="0">
                  <a:srgbClr val="6E747A">
                    <a:alpha val="43000"/>
                  </a:srgbClr>
                </a:outerShdw>
              </a:effectLst>
            </a:endParaRPr>
          </a:p>
          <a:p>
            <a:pPr marL="742950" lvl="1" indent="-285750">
              <a:buFont typeface="Arial" panose="020B0604020202020204" pitchFamily="34" charset="0"/>
              <a:buChar char="•"/>
            </a:pPr>
            <a:endParaRPr lang="en-IN" dirty="0">
              <a:ln w="0"/>
              <a:solidFill>
                <a:schemeClr val="accent1"/>
              </a:solidFill>
              <a:effectLst>
                <a:outerShdw blurRad="38100" dist="25400" dir="5400000" algn="ctr" rotWithShape="0">
                  <a:srgbClr val="6E747A">
                    <a:alpha val="43000"/>
                  </a:srgbClr>
                </a:outerShdw>
              </a:effectLst>
            </a:endParaRPr>
          </a:p>
          <a:p>
            <a:pPr marL="742950" lvl="1" indent="-285750">
              <a:buFont typeface="Arial" panose="020B0604020202020204" pitchFamily="34" charset="0"/>
              <a:buChar char="•"/>
            </a:pPr>
            <a:endParaRPr lang="en-IN"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IN" dirty="0">
              <a:ln w="0"/>
              <a:solidFill>
                <a:schemeClr val="accent1"/>
              </a:solidFill>
              <a:effectLst>
                <a:outerShdw blurRad="38100" dist="25400" dir="5400000" algn="ctr" rotWithShape="0">
                  <a:srgbClr val="6E747A">
                    <a:alpha val="43000"/>
                  </a:srgbClr>
                </a:outerShdw>
              </a:effectLst>
            </a:endParaRPr>
          </a:p>
          <a:p>
            <a:pPr marL="457200" indent="-457200">
              <a:buFont typeface="Arial" panose="020B0604020202020204" pitchFamily="34" charset="0"/>
              <a:buChar char="•"/>
            </a:pPr>
            <a:endParaRPr lang="en-US" sz="2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073823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TotalTime>
  <Words>1043</Words>
  <Application>Microsoft Office PowerPoint</Application>
  <PresentationFormat>Widescreen</PresentationFormat>
  <Paragraphs>86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Kumar K Chakraborty</dc:creator>
  <cp:lastModifiedBy>Kumar K Chakraborty</cp:lastModifiedBy>
  <cp:revision>36</cp:revision>
  <dcterms:created xsi:type="dcterms:W3CDTF">2023-01-11T05:54:24Z</dcterms:created>
  <dcterms:modified xsi:type="dcterms:W3CDTF">2023-01-11T12:13:31Z</dcterms:modified>
</cp:coreProperties>
</file>